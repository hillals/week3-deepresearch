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C1F2A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rgbClr val="EACFCB"/>
          </a:solidFill>
        </a:fill>
      </a:tcStyle>
    </a:wholeTbl>
    <a:band2H>
      <a:tcTxStyle b="def" i="def"/>
      <a:tcStyle>
        <a:tcBdr/>
        <a:fill>
          <a:solidFill>
            <a:srgbClr val="F5E9E7"/>
          </a:solidFill>
        </a:fill>
      </a:tcStyle>
    </a:band2H>
    <a:firstCol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381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381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rgbClr val="CCD1DC"/>
          </a:solidFill>
        </a:fill>
      </a:tcStyle>
    </a:wholeTbl>
    <a:band2H>
      <a:tcTxStyle b="def" i="def"/>
      <a:tcStyle>
        <a:tcBdr/>
        <a:fill>
          <a:solidFill>
            <a:srgbClr val="E7E9EE"/>
          </a:solidFill>
        </a:fill>
      </a:tcStyle>
    </a:band2H>
    <a:firstCol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381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381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6">
              <a:lumOff val="11760"/>
            </a:schemeClr>
          </a:solidFill>
        </a:fill>
      </a:tcStyle>
    </a:wholeTbl>
    <a:band2H>
      <a:tcTxStyle b="def" i="def"/>
      <a:tcStyle>
        <a:tcBdr/>
        <a:fill>
          <a:solidFill>
            <a:srgbClr val="F5F6F7"/>
          </a:solidFill>
        </a:fill>
      </a:tcStyle>
    </a:band2H>
    <a:firstCol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381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381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1C1F2A"/>
        </a:fontRef>
        <a:srgbClr val="1C1F2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6F3EC"/>
          </a:solidFill>
        </a:fill>
      </a:tcStyle>
    </a:band2H>
    <a:firstCol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C1F2A"/>
        </a:fontRef>
        <a:srgbClr val="1C1F2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C1F2A"/>
              </a:solidFill>
              <a:prstDash val="solid"/>
              <a:round/>
            </a:ln>
          </a:top>
          <a:bottom>
            <a:ln w="25400" cap="flat">
              <a:solidFill>
                <a:srgbClr val="1C1F2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6F3EC"/>
          </a:solidFill>
        </a:fill>
      </a:tcStyle>
    </a:lastRow>
    <a:fir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C1F2A"/>
              </a:solidFill>
              <a:prstDash val="solid"/>
              <a:round/>
            </a:ln>
          </a:top>
          <a:bottom>
            <a:ln w="25400" cap="flat">
              <a:solidFill>
                <a:srgbClr val="1C1F2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rgbClr val="1C1F2A"/>
          </a:solidFill>
        </a:fill>
      </a:tcStyle>
    </a:firstCol>
    <a:la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38100" cap="flat">
              <a:solidFill>
                <a:srgbClr val="F6F3EC"/>
              </a:solidFill>
              <a:prstDash val="solid"/>
              <a:round/>
            </a:ln>
          </a:top>
          <a:bottom>
            <a:ln w="127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rgbClr val="1C1F2A"/>
          </a:solidFill>
        </a:fill>
      </a:tcStyle>
    </a:lastRow>
    <a:firstRow>
      <a:tcTxStyle b="on" i="off">
        <a:fontRef idx="minor">
          <a:srgbClr val="F6F3EC"/>
        </a:fontRef>
        <a:srgbClr val="F6F3EC"/>
      </a:tcTxStyle>
      <a:tcStyle>
        <a:tcBdr>
          <a:left>
            <a:ln w="12700" cap="flat">
              <a:solidFill>
                <a:srgbClr val="F6F3EC"/>
              </a:solidFill>
              <a:prstDash val="solid"/>
              <a:round/>
            </a:ln>
          </a:left>
          <a:right>
            <a:ln w="12700" cap="flat">
              <a:solidFill>
                <a:srgbClr val="F6F3EC"/>
              </a:solidFill>
              <a:prstDash val="solid"/>
              <a:round/>
            </a:ln>
          </a:right>
          <a:top>
            <a:ln w="12700" cap="flat">
              <a:solidFill>
                <a:srgbClr val="F6F3EC"/>
              </a:solidFill>
              <a:prstDash val="solid"/>
              <a:round/>
            </a:ln>
          </a:top>
          <a:bottom>
            <a:ln w="38100" cap="flat">
              <a:solidFill>
                <a:srgbClr val="F6F3EC"/>
              </a:solidFill>
              <a:prstDash val="solid"/>
              <a:round/>
            </a:ln>
          </a:bottom>
          <a:insideH>
            <a:ln w="12700" cap="flat">
              <a:solidFill>
                <a:srgbClr val="F6F3EC"/>
              </a:solidFill>
              <a:prstDash val="solid"/>
              <a:round/>
            </a:ln>
          </a:insideH>
          <a:insideV>
            <a:ln w="12700" cap="flat">
              <a:solidFill>
                <a:srgbClr val="F6F3EC"/>
              </a:solidFill>
              <a:prstDash val="solid"/>
              <a:round/>
            </a:ln>
          </a:insideV>
        </a:tcBdr>
        <a:fill>
          <a:solidFill>
            <a:srgbClr val="1C1F2A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1C1F2A"/>
              </a:solidFill>
              <a:prstDash val="solid"/>
              <a:round/>
            </a:ln>
          </a:left>
          <a:right>
            <a:ln w="12700" cap="flat">
              <a:solidFill>
                <a:srgbClr val="1C1F2A"/>
              </a:solidFill>
              <a:prstDash val="solid"/>
              <a:round/>
            </a:ln>
          </a:right>
          <a:top>
            <a:ln w="12700" cap="flat">
              <a:solidFill>
                <a:srgbClr val="1C1F2A"/>
              </a:solidFill>
              <a:prstDash val="solid"/>
              <a:round/>
            </a:ln>
          </a:top>
          <a:bottom>
            <a:ln w="12700" cap="flat">
              <a:solidFill>
                <a:srgbClr val="1C1F2A"/>
              </a:solidFill>
              <a:prstDash val="solid"/>
              <a:round/>
            </a:ln>
          </a:bottom>
          <a:insideH>
            <a:ln w="12700" cap="flat">
              <a:solidFill>
                <a:srgbClr val="1C1F2A"/>
              </a:solidFill>
              <a:prstDash val="solid"/>
              <a:round/>
            </a:ln>
          </a:insideH>
          <a:insideV>
            <a:ln w="12700" cap="flat">
              <a:solidFill>
                <a:srgbClr val="1C1F2A"/>
              </a:solidFill>
              <a:prstDash val="solid"/>
              <a:round/>
            </a:ln>
          </a:insideV>
        </a:tcBdr>
        <a:fill>
          <a:solidFill>
            <a:srgbClr val="1C1F2A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1C1F2A"/>
              </a:solidFill>
              <a:prstDash val="solid"/>
              <a:round/>
            </a:ln>
          </a:left>
          <a:right>
            <a:ln w="12700" cap="flat">
              <a:solidFill>
                <a:srgbClr val="1C1F2A"/>
              </a:solidFill>
              <a:prstDash val="solid"/>
              <a:round/>
            </a:ln>
          </a:right>
          <a:top>
            <a:ln w="12700" cap="flat">
              <a:solidFill>
                <a:srgbClr val="1C1F2A"/>
              </a:solidFill>
              <a:prstDash val="solid"/>
              <a:round/>
            </a:ln>
          </a:top>
          <a:bottom>
            <a:ln w="12700" cap="flat">
              <a:solidFill>
                <a:srgbClr val="1C1F2A"/>
              </a:solidFill>
              <a:prstDash val="solid"/>
              <a:round/>
            </a:ln>
          </a:bottom>
          <a:insideH>
            <a:ln w="12700" cap="flat">
              <a:solidFill>
                <a:srgbClr val="1C1F2A"/>
              </a:solidFill>
              <a:prstDash val="solid"/>
              <a:round/>
            </a:ln>
          </a:insideH>
          <a:insideV>
            <a:ln w="12700" cap="flat">
              <a:solidFill>
                <a:srgbClr val="1C1F2A"/>
              </a:solidFill>
              <a:prstDash val="solid"/>
              <a:round/>
            </a:ln>
          </a:insideV>
        </a:tcBdr>
        <a:fill>
          <a:solidFill>
            <a:srgbClr val="1C1F2A">
              <a:alpha val="20000"/>
            </a:srgbClr>
          </a:solidFill>
        </a:fill>
      </a:tcStyle>
    </a:firstCol>
    <a:lastRow>
      <a:tcTxStyle b="on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1C1F2A"/>
              </a:solidFill>
              <a:prstDash val="solid"/>
              <a:round/>
            </a:ln>
          </a:left>
          <a:right>
            <a:ln w="12700" cap="flat">
              <a:solidFill>
                <a:srgbClr val="1C1F2A"/>
              </a:solidFill>
              <a:prstDash val="solid"/>
              <a:round/>
            </a:ln>
          </a:right>
          <a:top>
            <a:ln w="50800" cap="flat">
              <a:solidFill>
                <a:srgbClr val="1C1F2A"/>
              </a:solidFill>
              <a:prstDash val="solid"/>
              <a:round/>
            </a:ln>
          </a:top>
          <a:bottom>
            <a:ln w="12700" cap="flat">
              <a:solidFill>
                <a:srgbClr val="1C1F2A"/>
              </a:solidFill>
              <a:prstDash val="solid"/>
              <a:round/>
            </a:ln>
          </a:bottom>
          <a:insideH>
            <a:ln w="12700" cap="flat">
              <a:solidFill>
                <a:srgbClr val="1C1F2A"/>
              </a:solidFill>
              <a:prstDash val="solid"/>
              <a:round/>
            </a:ln>
          </a:insideH>
          <a:insideV>
            <a:ln w="12700" cap="flat">
              <a:solidFill>
                <a:srgbClr val="1C1F2A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1C1F2A"/>
        </a:fontRef>
        <a:srgbClr val="1C1F2A"/>
      </a:tcTxStyle>
      <a:tcStyle>
        <a:tcBdr>
          <a:left>
            <a:ln w="12700" cap="flat">
              <a:solidFill>
                <a:srgbClr val="1C1F2A"/>
              </a:solidFill>
              <a:prstDash val="solid"/>
              <a:round/>
            </a:ln>
          </a:left>
          <a:right>
            <a:ln w="12700" cap="flat">
              <a:solidFill>
                <a:srgbClr val="1C1F2A"/>
              </a:solidFill>
              <a:prstDash val="solid"/>
              <a:round/>
            </a:ln>
          </a:right>
          <a:top>
            <a:ln w="12700" cap="flat">
              <a:solidFill>
                <a:srgbClr val="1C1F2A"/>
              </a:solidFill>
              <a:prstDash val="solid"/>
              <a:round/>
            </a:ln>
          </a:top>
          <a:bottom>
            <a:ln w="25400" cap="flat">
              <a:solidFill>
                <a:srgbClr val="1C1F2A"/>
              </a:solidFill>
              <a:prstDash val="solid"/>
              <a:round/>
            </a:ln>
          </a:bottom>
          <a:insideH>
            <a:ln w="12700" cap="flat">
              <a:solidFill>
                <a:srgbClr val="1C1F2A"/>
              </a:solidFill>
              <a:prstDash val="solid"/>
              <a:round/>
            </a:ln>
          </a:insideH>
          <a:insideV>
            <a:ln w="12700" cap="flat">
              <a:solidFill>
                <a:srgbClr val="1C1F2A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1pPr>
    <a:lvl2pPr indent="2286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2pPr>
    <a:lvl3pPr indent="4572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3pPr>
    <a:lvl4pPr indent="6858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4pPr>
    <a:lvl5pPr indent="9144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5pPr>
    <a:lvl6pPr indent="11430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6pPr>
    <a:lvl7pPr indent="13716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7pPr>
    <a:lvl8pPr indent="16002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8pPr>
    <a:lvl9pPr indent="1828800" latinLnBrk="0">
      <a:defRPr sz="1200">
        <a:solidFill>
          <a:srgbClr val="1C1F2A"/>
        </a:solidFill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" name="Shape 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Açılış sorusu: Bütün bir kuşağa “tembel” demek bir bulgu mu, bir his mi? Bu sunum iddiayı TÜİK işgücü verileri, Gallup’un Türkiye ülke verisi ve Türkiye’deki kuşak araştırmalarıyla sınıyor; yapay zekâ destekli araştırma çıktıları orijinal kaynaklarla çapraz kontrol edildi.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" name="Shape 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 iddia ayrı sınanıyor, çünkü veri her birine farklı yanıt veriyor: katılım bir işgücü piyasası sorusu, bağlılık bir yönetim sorusu, tükenmişlik ise bir çalışma koşulları sorusu.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 evrensel bir örüntü; Türkiye’de de “bizim zamanımızda” söylemi tanıdık. Dolayısıyla ispat yükü anekdotta değil veride.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0" name="Shape 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Eleştirenlerin en güçlü verisi bu: genç nüfusun yaklaşık dörtte biri sistemin dışında. TÜİK verisi kadın ve erkek gençler arasında belirgin fark olduğunu gösteriyor; nedenleri (bakım yükü, iş bulamama umutsuzluğu) ayrıca incelenmeli. Üstelik katılım artıyor — tembellik anlatısıyla çelişen bir yön.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" name="Shape 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Atıl işgücü tüm yaş grupları için; gençlere özel kırılım bu sunumda yok. Gallup’un iş piyasası algısı da tüm çalışanları kapsıyor. Yine de tablo net: Türkiye’de çalışanlar iş bulmayı küresel ortalamanın yarısından az olasılıkla kolay buluyor.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Kritik nokta: Gallup’un Türkiye verisi yaş kırılımı vermiyor. Düşük bağlılık ve yüksek stres tüm çalışanlarda; bu, “gençler umursamıyor” iddiasını değil, yönetim ve ekonomik koşulları işaret ediyor. ABD’de ise genç bağlılığının 2020’den beri 8 puan düştüğünü biliyoruz.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5" name="Shape 1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Önemli not: %65’lik Türkiye rakamı Deloitte’un 2021 araştırmasından ve pandemi dönemine ait — en güncel Türkiye kırılımını yayınlanmış haberlerde bulamadık. Yerli Esenlik Araştırması tükenmişliğin genç kuşaklarda yoğunlaştığını doğruluyor. Stresin kaynağı fazla iş ve takdirsizlik; bu tembelliğin tam tersi.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Yüksek enflasyon ortamında maaşın değer kaybetmesi, gençlerin “sessiz istifa” olarak okunan davranışını açıklıyor: çalışmayı reddetmiyorlar, güvencesiz gördükleri işte enerjilerini idareli kullanıyorlar.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6" name="Shape 1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Sentez: Türkiye’de veri, tembellikten çok yapısal sıkışmayı (dar iş piyasası, yüksek stres, finansal güvencesizlik) gösteriyor. Dürüst istisna: gençlerin %23’ü ne eğitimde ne istihdamda — nedenleri ayrıca araştırılmalı.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" name="Shape 1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Başlıktaki soruya dönüp tek dürüst belirsizliği adlandırarak kapatın.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812800" y="1391890"/>
            <a:ext cx="10566400" cy="11176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xfrm>
            <a:off x="812800" y="2814290"/>
            <a:ext cx="10566400" cy="323091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1pPr>
      <a:lvl2pPr marL="620485" marR="0" indent="-163285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2pPr>
      <a:lvl3pPr marL="1066800" marR="0" indent="-15240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3pPr>
      <a:lvl4pPr marL="1554480" marR="0" indent="-18288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4pPr>
      <a:lvl5pPr marL="20116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5pPr>
      <a:lvl6pPr marL="24688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6pPr>
      <a:lvl7pPr marL="29260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7pPr>
      <a:lvl8pPr marL="33832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8pPr>
      <a:lvl9pPr marL="38404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C1F2A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812799" y="1671340"/>
            <a:ext cx="10883394" cy="2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2"/>
                </a:solidFill>
              </a:defRPr>
            </a:lvl1pPr>
          </a:lstStyle>
          <a:p>
            <a:pPr/>
            <a:r>
              <a:t>TÜRKIYE ODAKLI ARAŞTIRMA SENTEZI · EKIM 2026</a:t>
            </a:r>
          </a:p>
        </p:txBody>
      </p:sp>
      <p:sp>
        <p:nvSpPr>
          <p:cNvPr id="30" name="Text 1"/>
          <p:cNvSpPr txBox="1"/>
          <p:nvPr>
            <p:ph type="title"/>
          </p:nvPr>
        </p:nvSpPr>
        <p:spPr>
          <a:xfrm>
            <a:off x="812799" y="2174230"/>
            <a:ext cx="10883394" cy="2057401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8000"/>
              </a:lnSpc>
              <a:defRPr b="1" sz="8000">
                <a:solidFill>
                  <a:srgbClr val="F6F3EC"/>
                </a:solidFill>
              </a:defRPr>
            </a:pPr>
            <a:r>
              <a:t>TEMBEL MI,</a:t>
            </a:r>
          </a:p>
          <a:p>
            <a:pPr>
              <a:lnSpc>
                <a:spcPts val="8000"/>
              </a:lnSpc>
              <a:defRPr b="1" sz="8000">
                <a:solidFill>
                  <a:schemeClr val="accent2"/>
                </a:solidFill>
              </a:defRPr>
            </a:pPr>
            <a:r>
              <a:t>TÜKENMIŞ MI?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812800" y="4460230"/>
            <a:ext cx="9156700" cy="75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800"/>
              </a:lnSpc>
              <a:defRPr sz="2200">
                <a:solidFill>
                  <a:schemeClr val="accent6"/>
                </a:solidFill>
              </a:defRPr>
            </a:lvl1pPr>
          </a:lstStyle>
          <a:p>
            <a:pPr/>
            <a:r>
              <a:t>“Z kuşağı çalışmak istemiyor” iddiasını Türkiye’nin işgücü, bağlılık ve iyi oluş verileriyle sınamak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1"/>
                </a:solidFill>
              </a:defRPr>
            </a:lvl1pPr>
          </a:lstStyle>
          <a:p>
            <a:pPr/>
            <a:r>
              <a:t>İDDIA</a:t>
            </a:r>
          </a:p>
        </p:txBody>
      </p:sp>
      <p:sp>
        <p:nvSpPr>
          <p:cNvPr id="36" name="Text 1"/>
          <p:cNvSpPr txBox="1"/>
          <p:nvPr>
            <p:ph type="title"/>
          </p:nvPr>
        </p:nvSpPr>
        <p:spPr>
          <a:xfrm>
            <a:off x="812800" y="1468090"/>
            <a:ext cx="10137775" cy="1254721"/>
          </a:xfrm>
          <a:prstGeom prst="rect">
            <a:avLst/>
          </a:prstGeom>
        </p:spPr>
        <p:txBody>
          <a:bodyPr/>
          <a:lstStyle>
            <a:lvl1pPr>
              <a:lnSpc>
                <a:spcPts val="4800"/>
              </a:lnSpc>
              <a:defRPr b="1" sz="4400"/>
            </a:lvl1pPr>
          </a:lstStyle>
          <a:p>
            <a:pPr/>
            <a:r>
              <a:t>“Z kuşağı çalışmak istemiyor” aslında üç ayrı iddia</a:t>
            </a:r>
          </a:p>
        </p:txBody>
      </p:sp>
      <p:sp>
        <p:nvSpPr>
          <p:cNvPr id="37" name="Shape 2"/>
          <p:cNvSpPr/>
          <p:nvPr/>
        </p:nvSpPr>
        <p:spPr>
          <a:xfrm>
            <a:off x="815975" y="3106985"/>
            <a:ext cx="3380284" cy="2261792"/>
          </a:xfrm>
          <a:prstGeom prst="roundRect">
            <a:avLst>
              <a:gd name="adj" fmla="val 4352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3"/>
          <p:cNvSpPr txBox="1"/>
          <p:nvPr/>
        </p:nvSpPr>
        <p:spPr>
          <a:xfrm>
            <a:off x="1123950" y="3414960"/>
            <a:ext cx="2847264" cy="66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5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9" name="Text 4"/>
          <p:cNvSpPr txBox="1"/>
          <p:nvPr/>
        </p:nvSpPr>
        <p:spPr>
          <a:xfrm>
            <a:off x="1123950" y="4156621"/>
            <a:ext cx="2847264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b="1" sz="2000"/>
            </a:lvl1pPr>
          </a:lstStyle>
          <a:p>
            <a:pPr/>
            <a:r>
              <a:t>İşe girmiyorlar</a:t>
            </a:r>
          </a:p>
        </p:txBody>
      </p:sp>
      <p:sp>
        <p:nvSpPr>
          <p:cNvPr id="40" name="Text 5"/>
          <p:cNvSpPr txBox="1"/>
          <p:nvPr/>
        </p:nvSpPr>
        <p:spPr>
          <a:xfrm>
            <a:off x="1123950" y="4563021"/>
            <a:ext cx="2847264" cy="2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Gençlerin işgücüne katılımı düşük</a:t>
            </a:r>
          </a:p>
        </p:txBody>
      </p:sp>
      <p:sp>
        <p:nvSpPr>
          <p:cNvPr id="41" name="Shape 6"/>
          <p:cNvSpPr/>
          <p:nvPr/>
        </p:nvSpPr>
        <p:spPr>
          <a:xfrm>
            <a:off x="4405808" y="3106985"/>
            <a:ext cx="3380334" cy="2261792"/>
          </a:xfrm>
          <a:prstGeom prst="roundRect">
            <a:avLst>
              <a:gd name="adj" fmla="val 4352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7"/>
          <p:cNvSpPr txBox="1"/>
          <p:nvPr/>
        </p:nvSpPr>
        <p:spPr>
          <a:xfrm>
            <a:off x="4713783" y="3414960"/>
            <a:ext cx="2847316" cy="66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5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3" name="Text 8"/>
          <p:cNvSpPr txBox="1"/>
          <p:nvPr/>
        </p:nvSpPr>
        <p:spPr>
          <a:xfrm>
            <a:off x="4713783" y="4156621"/>
            <a:ext cx="284731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b="1" sz="2000"/>
            </a:lvl1pPr>
          </a:lstStyle>
          <a:p>
            <a:pPr/>
            <a:r>
              <a:t>Umursamıyorlar</a:t>
            </a:r>
          </a:p>
        </p:txBody>
      </p:sp>
      <p:sp>
        <p:nvSpPr>
          <p:cNvPr id="44" name="Text 9"/>
          <p:cNvSpPr txBox="1"/>
          <p:nvPr/>
        </p:nvSpPr>
        <p:spPr>
          <a:xfrm>
            <a:off x="4713783" y="4563021"/>
            <a:ext cx="2847316" cy="2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İşe girince bağlılıkları düşük</a:t>
            </a:r>
          </a:p>
        </p:txBody>
      </p:sp>
      <p:sp>
        <p:nvSpPr>
          <p:cNvPr id="45" name="Shape 10"/>
          <p:cNvSpPr/>
          <p:nvPr/>
        </p:nvSpPr>
        <p:spPr>
          <a:xfrm>
            <a:off x="7995691" y="3106985"/>
            <a:ext cx="3380334" cy="2261792"/>
          </a:xfrm>
          <a:prstGeom prst="roundRect">
            <a:avLst>
              <a:gd name="adj" fmla="val 4352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1"/>
          <p:cNvSpPr txBox="1"/>
          <p:nvPr/>
        </p:nvSpPr>
        <p:spPr>
          <a:xfrm>
            <a:off x="8303666" y="3414960"/>
            <a:ext cx="2847316" cy="66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5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7" name="Text 12"/>
          <p:cNvSpPr txBox="1"/>
          <p:nvPr/>
        </p:nvSpPr>
        <p:spPr>
          <a:xfrm>
            <a:off x="8303666" y="4156621"/>
            <a:ext cx="284731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b="1" sz="2000"/>
            </a:lvl1pPr>
          </a:lstStyle>
          <a:p>
            <a:pPr/>
            <a:r>
              <a:t>Dayanamıyorlar</a:t>
            </a:r>
          </a:p>
        </p:txBody>
      </p:sp>
      <p:sp>
        <p:nvSpPr>
          <p:cNvPr id="48" name="Text 13"/>
          <p:cNvSpPr txBox="1"/>
          <p:nvPr/>
        </p:nvSpPr>
        <p:spPr>
          <a:xfrm>
            <a:off x="8303666" y="4563021"/>
            <a:ext cx="2847316" cy="52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Stres ve tükenmişlik bir karakter kusuru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2"/>
                </a:solidFill>
              </a:defRPr>
            </a:lvl1pPr>
          </a:lstStyle>
          <a:p>
            <a:pPr/>
            <a:r>
              <a:t>BAĞLAM</a:t>
            </a:r>
          </a:p>
        </p:txBody>
      </p:sp>
      <p:sp>
        <p:nvSpPr>
          <p:cNvPr id="53" name="Text 1"/>
          <p:cNvSpPr txBox="1"/>
          <p:nvPr>
            <p:ph type="title"/>
          </p:nvPr>
        </p:nvSpPr>
        <p:spPr>
          <a:xfrm>
            <a:off x="812799" y="1417290"/>
            <a:ext cx="10883394" cy="640061"/>
          </a:xfrm>
          <a:prstGeom prst="rect">
            <a:avLst/>
          </a:prstGeom>
        </p:spPr>
        <p:txBody>
          <a:bodyPr/>
          <a:lstStyle>
            <a:lvl1pPr>
              <a:lnSpc>
                <a:spcPts val="4800"/>
              </a:lnSpc>
              <a:defRPr b="1" sz="4400">
                <a:solidFill>
                  <a:srgbClr val="F6F3EC"/>
                </a:solidFill>
              </a:defRPr>
            </a:lvl1pPr>
          </a:lstStyle>
          <a:p>
            <a:pPr/>
            <a:r>
              <a:t>Her kuşağa “tembel” denmiştir</a:t>
            </a:r>
          </a:p>
        </p:txBody>
      </p:sp>
      <p:sp>
        <p:nvSpPr>
          <p:cNvPr id="54" name="Shape 2"/>
          <p:cNvSpPr/>
          <p:nvPr/>
        </p:nvSpPr>
        <p:spPr>
          <a:xfrm>
            <a:off x="812799" y="2400250"/>
            <a:ext cx="3318919" cy="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3"/>
          <p:cNvSpPr txBox="1"/>
          <p:nvPr/>
        </p:nvSpPr>
        <p:spPr>
          <a:xfrm>
            <a:off x="812800" y="2616150"/>
            <a:ext cx="34184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b="1" sz="2000">
                <a:solidFill>
                  <a:srgbClr val="F6F3EC"/>
                </a:solidFill>
              </a:defRPr>
            </a:lvl1pPr>
          </a:lstStyle>
          <a:p>
            <a:pPr/>
            <a:r>
              <a:t>Bir eğilim değil, hafıza yanılgısı</a:t>
            </a:r>
          </a:p>
        </p:txBody>
      </p:sp>
      <p:sp>
        <p:nvSpPr>
          <p:cNvPr id="56" name="Text 4"/>
          <p:cNvSpPr txBox="1"/>
          <p:nvPr/>
        </p:nvSpPr>
        <p:spPr>
          <a:xfrm>
            <a:off x="812800" y="3352750"/>
            <a:ext cx="3418484" cy="113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500">
                <a:solidFill>
                  <a:schemeClr val="accent6"/>
                </a:solidFill>
              </a:defRPr>
            </a:pPr>
            <a:r>
              <a:t>Protzko ve Schooler (</a:t>
            </a:r>
            <a:r>
              <a:rPr i="1"/>
              <a:t>Science Advances</a:t>
            </a:r>
            <a:r>
              <a:t>): Yetişkinler gençleri, kendi gençliklerini yanlış hatırladıkları için sert yargılıyor.</a:t>
            </a:r>
          </a:p>
        </p:txBody>
      </p:sp>
      <p:sp>
        <p:nvSpPr>
          <p:cNvPr id="57" name="Shape 5"/>
          <p:cNvSpPr/>
          <p:nvPr/>
        </p:nvSpPr>
        <p:spPr>
          <a:xfrm>
            <a:off x="4436517" y="2400250"/>
            <a:ext cx="3318967" cy="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6"/>
          <p:cNvSpPr txBox="1"/>
          <p:nvPr/>
        </p:nvSpPr>
        <p:spPr>
          <a:xfrm>
            <a:off x="4436517" y="2616150"/>
            <a:ext cx="341853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b="1" sz="2000">
                <a:solidFill>
                  <a:srgbClr val="F6F3EC"/>
                </a:solidFill>
              </a:defRPr>
            </a:lvl1pPr>
          </a:lstStyle>
          <a:p>
            <a:pPr/>
            <a:r>
              <a:t>Arşivler de aynısını söylüyor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4436517" y="3352750"/>
            <a:ext cx="3418535" cy="113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6"/>
                </a:solidFill>
              </a:defRPr>
            </a:lvl1pPr>
          </a:lstStyle>
          <a:p>
            <a:pPr/>
            <a:r>
              <a:t>Harvard araştırmacıları, 1940–70’lerin öğrenci görüşmelerinin bugünkü gençlere çarpıcı biçimde benzediğini buldu.</a:t>
            </a:r>
          </a:p>
        </p:txBody>
      </p:sp>
      <p:sp>
        <p:nvSpPr>
          <p:cNvPr id="60" name="Shape 8"/>
          <p:cNvSpPr/>
          <p:nvPr/>
        </p:nvSpPr>
        <p:spPr>
          <a:xfrm>
            <a:off x="8060283" y="2400250"/>
            <a:ext cx="3318918" cy="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9"/>
          <p:cNvSpPr txBox="1"/>
          <p:nvPr/>
        </p:nvSpPr>
        <p:spPr>
          <a:xfrm>
            <a:off x="8060283" y="2616150"/>
            <a:ext cx="3418485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b="1" sz="2000">
                <a:solidFill>
                  <a:srgbClr val="F6F3EC"/>
                </a:solidFill>
              </a:defRPr>
            </a:lvl1pPr>
          </a:lstStyle>
          <a:p>
            <a:pPr/>
            <a:r>
              <a:t>“En Büyük Kuşak” bile</a:t>
            </a:r>
          </a:p>
        </p:txBody>
      </p:sp>
      <p:sp>
        <p:nvSpPr>
          <p:cNvPr id="62" name="Text 10"/>
          <p:cNvSpPr txBox="1"/>
          <p:nvPr/>
        </p:nvSpPr>
        <p:spPr>
          <a:xfrm>
            <a:off x="8060283" y="3047950"/>
            <a:ext cx="3418485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6"/>
                </a:solidFill>
              </a:defRPr>
            </a:lvl1pPr>
          </a:lstStyle>
          <a:p>
            <a:pPr/>
            <a:r>
              <a:t>1920’lerde, sonradan II. Dünya Savaşı’nda savaşacak kuşak tembel ve şımarık bulunuyordu.</a:t>
            </a:r>
          </a:p>
        </p:txBody>
      </p:sp>
      <p:sp>
        <p:nvSpPr>
          <p:cNvPr id="63" name="Text 11"/>
          <p:cNvSpPr txBox="1"/>
          <p:nvPr/>
        </p:nvSpPr>
        <p:spPr>
          <a:xfrm>
            <a:off x="812799" y="6238280"/>
            <a:ext cx="10883394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F94A3"/>
                </a:solidFill>
              </a:defRPr>
            </a:lvl1pPr>
          </a:lstStyle>
          <a:p>
            <a:pPr/>
            <a:r>
              <a:t>Kaynaklar: Protzko ve Schooler, Science Advances (2019); Hill ve Redding, Harvard Gazette (2021)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1"/>
                </a:solidFill>
              </a:defRPr>
            </a:lvl1pPr>
          </a:lstStyle>
          <a:p>
            <a:pPr/>
            <a:r>
              <a:t>İDDIA 01 · İŞE GIRMEK</a:t>
            </a:r>
          </a:p>
        </p:txBody>
      </p:sp>
      <p:sp>
        <p:nvSpPr>
          <p:cNvPr id="68" name="Text 1"/>
          <p:cNvSpPr txBox="1"/>
          <p:nvPr>
            <p:ph type="title"/>
          </p:nvPr>
        </p:nvSpPr>
        <p:spPr>
          <a:xfrm>
            <a:off x="812799" y="1417290"/>
            <a:ext cx="10883394" cy="584201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/>
            </a:lvl1pPr>
          </a:lstStyle>
          <a:p>
            <a:pPr/>
            <a:r>
              <a:t>Her dört gençten biri ne okulda ne işte</a:t>
            </a:r>
          </a:p>
        </p:txBody>
      </p:sp>
      <p:sp>
        <p:nvSpPr>
          <p:cNvPr id="69" name="Shape 2"/>
          <p:cNvSpPr/>
          <p:nvPr/>
        </p:nvSpPr>
        <p:spPr>
          <a:xfrm>
            <a:off x="815975" y="2334865"/>
            <a:ext cx="3380284" cy="2241452"/>
          </a:xfrm>
          <a:prstGeom prst="roundRect">
            <a:avLst>
              <a:gd name="adj" fmla="val 4391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3"/>
          <p:cNvSpPr txBox="1"/>
          <p:nvPr/>
        </p:nvSpPr>
        <p:spPr>
          <a:xfrm>
            <a:off x="1098549" y="2617440"/>
            <a:ext cx="2899590" cy="87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700"/>
              </a:lnSpc>
              <a:defRPr sz="4800"/>
            </a:lvl1pPr>
          </a:lstStyle>
          <a:p>
            <a:pPr/>
            <a:r>
              <a:t>%23,3</a:t>
            </a:r>
          </a:p>
        </p:txBody>
      </p:sp>
      <p:sp>
        <p:nvSpPr>
          <p:cNvPr id="71" name="Text 4"/>
          <p:cNvSpPr txBox="1"/>
          <p:nvPr/>
        </p:nvSpPr>
        <p:spPr>
          <a:xfrm>
            <a:off x="1098549" y="3547069"/>
            <a:ext cx="2899590" cy="52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Ne eğitimde ne istihdamda olan gençlerin oranı (15–24 yaş, 2025)</a:t>
            </a:r>
          </a:p>
        </p:txBody>
      </p:sp>
      <p:sp>
        <p:nvSpPr>
          <p:cNvPr id="72" name="Shape 5"/>
          <p:cNvSpPr/>
          <p:nvPr/>
        </p:nvSpPr>
        <p:spPr>
          <a:xfrm>
            <a:off x="4405808" y="2334865"/>
            <a:ext cx="3380334" cy="2241452"/>
          </a:xfrm>
          <a:prstGeom prst="roundRect">
            <a:avLst>
              <a:gd name="adj" fmla="val 4391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6"/>
          <p:cNvSpPr txBox="1"/>
          <p:nvPr/>
        </p:nvSpPr>
        <p:spPr>
          <a:xfrm>
            <a:off x="4688383" y="2617440"/>
            <a:ext cx="2899641" cy="87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7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pPr/>
            <a:r>
              <a:t>%13,0</a:t>
            </a:r>
          </a:p>
        </p:txBody>
      </p:sp>
      <p:sp>
        <p:nvSpPr>
          <p:cNvPr id="74" name="Text 7"/>
          <p:cNvSpPr txBox="1"/>
          <p:nvPr/>
        </p:nvSpPr>
        <p:spPr>
          <a:xfrm>
            <a:off x="4688383" y="3547069"/>
            <a:ext cx="2899641" cy="772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Genç işsizlik, Ağustos 2026 — genel oranın (%7,8) yaklaşık 1,7 katı</a:t>
            </a:r>
          </a:p>
        </p:txBody>
      </p:sp>
      <p:sp>
        <p:nvSpPr>
          <p:cNvPr id="75" name="Shape 8"/>
          <p:cNvSpPr/>
          <p:nvPr/>
        </p:nvSpPr>
        <p:spPr>
          <a:xfrm>
            <a:off x="7995691" y="2334865"/>
            <a:ext cx="3380334" cy="2241452"/>
          </a:xfrm>
          <a:prstGeom prst="roundRect">
            <a:avLst>
              <a:gd name="adj" fmla="val 4391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9"/>
          <p:cNvSpPr txBox="1"/>
          <p:nvPr/>
        </p:nvSpPr>
        <p:spPr>
          <a:xfrm>
            <a:off x="8278266" y="2617440"/>
            <a:ext cx="2899640" cy="87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7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pPr/>
            <a:r>
              <a:t>↑</a:t>
            </a:r>
          </a:p>
        </p:txBody>
      </p:sp>
      <p:sp>
        <p:nvSpPr>
          <p:cNvPr id="77" name="Text 10"/>
          <p:cNvSpPr txBox="1"/>
          <p:nvPr/>
        </p:nvSpPr>
        <p:spPr>
          <a:xfrm>
            <a:off x="8278266" y="3547069"/>
            <a:ext cx="2899640" cy="772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Gençlerin işgücüne katılımı 2025’te arttı, genç işsizlik bir önceki yıla göre geriledi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812799" y="6238280"/>
            <a:ext cx="10883394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6A6F7C"/>
                </a:solidFill>
              </a:defRPr>
            </a:lvl1pPr>
          </a:lstStyle>
          <a:p>
            <a:pPr/>
            <a:r>
              <a:t>Kaynaklar: TÜİK İstatistiklerle Gençlik 2025 (Mayıs 2026, haberler aracılığıyla); TÜİK İşgücü İstatistikleri Ağustos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2"/>
                </a:solidFill>
              </a:defRPr>
            </a:lvl1pPr>
          </a:lstStyle>
          <a:p>
            <a:pPr/>
            <a:r>
              <a:t>İDDIA 01 · KAPI DARALIYOR</a:t>
            </a:r>
          </a:p>
        </p:txBody>
      </p:sp>
      <p:sp>
        <p:nvSpPr>
          <p:cNvPr id="83" name="Text 1"/>
          <p:cNvSpPr txBox="1"/>
          <p:nvPr>
            <p:ph type="title"/>
          </p:nvPr>
        </p:nvSpPr>
        <p:spPr>
          <a:xfrm>
            <a:off x="812799" y="1417290"/>
            <a:ext cx="10883394" cy="584201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F6F3EC"/>
                </a:solidFill>
              </a:defRPr>
            </a:lvl1pPr>
          </a:lstStyle>
          <a:p>
            <a:pPr/>
            <a:r>
              <a:t>Sorun isteksizlik değil, iş bulamamak</a:t>
            </a:r>
          </a:p>
        </p:txBody>
      </p:sp>
      <p:sp>
        <p:nvSpPr>
          <p:cNvPr id="84" name="Text 2"/>
          <p:cNvSpPr txBox="1"/>
          <p:nvPr/>
        </p:nvSpPr>
        <p:spPr>
          <a:xfrm>
            <a:off x="812800" y="2331690"/>
            <a:ext cx="523240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7000"/>
              </a:lnSpc>
              <a:defRPr sz="7000">
                <a:solidFill>
                  <a:schemeClr val="accent2"/>
                </a:solidFill>
              </a:defRPr>
            </a:lvl1pPr>
          </a:lstStyle>
          <a:p>
            <a:pPr/>
            <a:r>
              <a:t>%31,0</a:t>
            </a:r>
          </a:p>
        </p:txBody>
      </p:sp>
      <p:sp>
        <p:nvSpPr>
          <p:cNvPr id="85" name="Text 3"/>
          <p:cNvSpPr txBox="1"/>
          <p:nvPr/>
        </p:nvSpPr>
        <p:spPr>
          <a:xfrm>
            <a:off x="812800" y="3296889"/>
            <a:ext cx="52324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6"/>
                </a:solidFill>
              </a:defRPr>
            </a:lvl1pPr>
          </a:lstStyle>
          <a:p>
            <a:pPr/>
            <a:r>
              <a:t>Atıl işgücü oranı (geniş tanımlı işsizlik), Ağustos 2026 — resmi işsizliğin yaklaşık 4 katı</a:t>
            </a:r>
          </a:p>
        </p:txBody>
      </p:sp>
      <p:sp>
        <p:nvSpPr>
          <p:cNvPr id="86" name="Text 4"/>
          <p:cNvSpPr txBox="1"/>
          <p:nvPr/>
        </p:nvSpPr>
        <p:spPr>
          <a:xfrm>
            <a:off x="6299200" y="2331690"/>
            <a:ext cx="523240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7000"/>
              </a:lnSpc>
              <a:defRPr sz="7000">
                <a:solidFill>
                  <a:schemeClr val="accent2"/>
                </a:solidFill>
              </a:defRPr>
            </a:lvl1pPr>
          </a:lstStyle>
          <a:p>
            <a:pPr/>
            <a:r>
              <a:t>%23</a:t>
            </a:r>
          </a:p>
        </p:txBody>
      </p:sp>
      <p:sp>
        <p:nvSpPr>
          <p:cNvPr id="87" name="Text 5"/>
          <p:cNvSpPr txBox="1"/>
          <p:nvPr/>
        </p:nvSpPr>
        <p:spPr>
          <a:xfrm>
            <a:off x="6299200" y="3296889"/>
            <a:ext cx="523240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6"/>
                </a:solidFill>
              </a:defRPr>
            </a:lvl1pPr>
          </a:lstStyle>
          <a:p>
            <a:pPr/>
            <a:r>
              <a:t>Çalışanlardan “bulunduğum yerde iş bulmak için iyi bir zaman” diyenler — küresel ortalama %52</a:t>
            </a:r>
          </a:p>
        </p:txBody>
      </p:sp>
      <p:sp>
        <p:nvSpPr>
          <p:cNvPr id="88" name="Text 6"/>
          <p:cNvSpPr txBox="1"/>
          <p:nvPr/>
        </p:nvSpPr>
        <p:spPr>
          <a:xfrm>
            <a:off x="812800" y="4185889"/>
            <a:ext cx="9810750" cy="61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sz="1600">
                <a:solidFill>
                  <a:srgbClr val="F6F3EC"/>
                </a:solidFill>
              </a:defRPr>
            </a:lvl1pPr>
          </a:lstStyle>
          <a:p>
            <a:pPr/>
            <a:r>
              <a:t>İş arayıp umudunu kesenler, eksik istihdamdakiler ve potansiyel işgücü resmi işsizlikte görünmüyor. Gençlerin “dışarıda” görünmesinin bir kısmı, kapının dar olmasından.</a:t>
            </a:r>
          </a:p>
        </p:txBody>
      </p:sp>
      <p:sp>
        <p:nvSpPr>
          <p:cNvPr id="89" name="Text 7"/>
          <p:cNvSpPr txBox="1"/>
          <p:nvPr/>
        </p:nvSpPr>
        <p:spPr>
          <a:xfrm>
            <a:off x="812799" y="6238280"/>
            <a:ext cx="10883394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F94A3"/>
                </a:solidFill>
              </a:defRPr>
            </a:lvl1pPr>
          </a:lstStyle>
          <a:p>
            <a:pPr/>
            <a:r>
              <a:t>Kaynaklar: TÜİK İşgücü İstatistikleri Ağustos 2026; Gallup State of the Global Workplace 2026, Türkiye ülke verisi (2025 verisi)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1"/>
                </a:solidFill>
              </a:defRPr>
            </a:lvl1pPr>
          </a:lstStyle>
          <a:p>
            <a:pPr/>
            <a:r>
              <a:t>İDDIA 02 · UMURSAMAK</a:t>
            </a:r>
          </a:p>
        </p:txBody>
      </p:sp>
      <p:sp>
        <p:nvSpPr>
          <p:cNvPr id="94" name="Text 1"/>
          <p:cNvSpPr txBox="1"/>
          <p:nvPr>
            <p:ph type="title"/>
          </p:nvPr>
        </p:nvSpPr>
        <p:spPr>
          <a:xfrm>
            <a:off x="812799" y="1366490"/>
            <a:ext cx="10883394" cy="1143001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/>
            </a:lvl1pPr>
          </a:lstStyle>
          <a:p>
            <a:pPr/>
            <a:r>
              <a:t>Türkiye’de düşük bağlılık bir kuşak değil, ülke sorunu</a:t>
            </a:r>
          </a:p>
        </p:txBody>
      </p:sp>
      <p:graphicFrame>
        <p:nvGraphicFramePr>
          <p:cNvPr id="95" name="Table 0"/>
          <p:cNvGraphicFramePr/>
          <p:nvPr/>
        </p:nvGraphicFramePr>
        <p:xfrm>
          <a:off x="825500" y="2801590"/>
          <a:ext cx="10553700" cy="20637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899666"/>
                <a:gridCol w="1899666"/>
                <a:gridCol w="1899666"/>
              </a:tblGrid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1C1F2A"/>
                          </a:solidFill>
                        </a:rPr>
                        <a:t>Gallup göstergesi (tüm çalışanlar)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BAB5AA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BAB5AA"/>
                      </a:solidFill>
                    </a:lnB>
                    <a:solidFill>
                      <a:srgbClr val="E9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1C1F2A"/>
                          </a:solidFill>
                        </a:rPr>
                        <a:t>Türkiye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AB5AA"/>
                      </a:solidFill>
                    </a:lnL>
                    <a:lnR w="12700">
                      <a:solidFill>
                        <a:srgbClr val="BAB5AA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BAB5AA"/>
                      </a:solidFill>
                    </a:lnB>
                    <a:solidFill>
                      <a:srgbClr val="E9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1C1F2A"/>
                          </a:solidFill>
                        </a:rPr>
                        <a:t>MENA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AB5AA"/>
                      </a:solidFill>
                    </a:lnL>
                    <a:lnR w="12700">
                      <a:solidFill>
                        <a:srgbClr val="BAB5AA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BAB5AA"/>
                      </a:solidFill>
                    </a:lnB>
                    <a:solidFill>
                      <a:srgbClr val="E9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1C1F2A"/>
                          </a:solidFill>
                        </a:rPr>
                        <a:t>Küresel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AB5AA"/>
                      </a:solidFill>
                    </a:lnL>
                    <a:lnR w="12700">
                      <a:solidFill>
                        <a:srgbClr val="BAB5AA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BAB5AA"/>
                      </a:solidFill>
                    </a:lnB>
                    <a:solidFill>
                      <a:srgbClr val="E9E3D5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İşine bağlı çalışan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BAB5AA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1"/>
                          </a:solidFill>
                        </a:rPr>
                        <a:t>%8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BAB5AA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%14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BAB5AA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%20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BAB5AA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Dün çok stres yaşadım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1"/>
                          </a:solidFill>
                        </a:rPr>
                        <a:t>%66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%48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%40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Dün çok öfke yaşadım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1"/>
                          </a:solidFill>
                        </a:rPr>
                        <a:t>%36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%30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%22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Hayatında “gelişen” (thriving)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1"/>
                          </a:solidFill>
                        </a:rPr>
                        <a:t>%19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%26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C1F2A"/>
                          </a:solidFill>
                        </a:rPr>
                        <a:t>%34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2BC"/>
                      </a:solidFill>
                    </a:lnL>
                    <a:lnR w="12700">
                      <a:solidFill>
                        <a:srgbClr val="C4C2BC"/>
                      </a:solidFill>
                    </a:lnR>
                    <a:lnT w="12700">
                      <a:solidFill>
                        <a:srgbClr val="C4C2BC"/>
                      </a:solidFill>
                    </a:lnT>
                    <a:lnB w="12700">
                      <a:solidFill>
                        <a:srgbClr val="C4C2B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6" name="Text 2"/>
          <p:cNvSpPr txBox="1"/>
          <p:nvPr/>
        </p:nvSpPr>
        <p:spPr>
          <a:xfrm>
            <a:off x="812800" y="5170139"/>
            <a:ext cx="9810750" cy="61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sz="1600"/>
            </a:lvl1pPr>
          </a:lstStyle>
          <a:p>
            <a:pPr/>
            <a:r>
              <a:t>Her 12 çalışandan yalnızca biri işine bağlı. Bu tabloda Z kuşağını ayrı bir sorun olarak ayırmak için veri yok.</a:t>
            </a:r>
          </a:p>
        </p:txBody>
      </p:sp>
      <p:sp>
        <p:nvSpPr>
          <p:cNvPr id="97" name="Text 3"/>
          <p:cNvSpPr txBox="1"/>
          <p:nvPr/>
        </p:nvSpPr>
        <p:spPr>
          <a:xfrm>
            <a:off x="812799" y="6238280"/>
            <a:ext cx="10883394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6A6F7C"/>
                </a:solidFill>
              </a:defRPr>
            </a:lvl1pPr>
          </a:lstStyle>
          <a:p>
            <a:pPr/>
            <a:r>
              <a:t>Kaynak: Gallup State of the Global Workplace 2026 — Türkiye ülke verisi (Ocak–Aralık 2025 verisi)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4"/>
                </a:solidFill>
              </a:defRPr>
            </a:lvl1pPr>
          </a:lstStyle>
          <a:p>
            <a:pPr/>
            <a:r>
              <a:t>İDDIA 03 · DAYANMAK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812799" y="1366490"/>
            <a:ext cx="4422430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0"/>
              </a:lnSpc>
              <a:defRPr b="1" sz="15000">
                <a:solidFill>
                  <a:srgbClr val="FFF6EE"/>
                </a:solidFill>
              </a:defRPr>
            </a:lvl1pPr>
          </a:lstStyle>
          <a:p>
            <a:pPr/>
            <a:r>
              <a:t>%65</a:t>
            </a:r>
          </a:p>
        </p:txBody>
      </p:sp>
      <p:sp>
        <p:nvSpPr>
          <p:cNvPr id="103" name="Text 2"/>
          <p:cNvSpPr txBox="1"/>
          <p:nvPr/>
        </p:nvSpPr>
        <p:spPr>
          <a:xfrm>
            <a:off x="5235228" y="1661765"/>
            <a:ext cx="5886451" cy="133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400"/>
              </a:lnSpc>
              <a:defRPr sz="3000">
                <a:solidFill>
                  <a:srgbClr val="FFF6EE"/>
                </a:solidFill>
              </a:defRPr>
            </a:lvl1pPr>
          </a:lstStyle>
          <a:p>
            <a:pPr/>
            <a:r>
              <a:t>Türkiye’deki Z kuşağının çoğu zaman stresli hissettiği oran — küresel ortalama %46</a:t>
            </a:r>
          </a:p>
        </p:txBody>
      </p:sp>
      <p:sp>
        <p:nvSpPr>
          <p:cNvPr id="104" name="Shape 3"/>
          <p:cNvSpPr/>
          <p:nvPr/>
        </p:nvSpPr>
        <p:spPr>
          <a:xfrm>
            <a:off x="812799" y="3585814"/>
            <a:ext cx="3318919" cy="1"/>
          </a:xfrm>
          <a:prstGeom prst="line">
            <a:avLst/>
          </a:prstGeom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4"/>
          <p:cNvSpPr txBox="1"/>
          <p:nvPr/>
        </p:nvSpPr>
        <p:spPr>
          <a:xfrm>
            <a:off x="812800" y="3747739"/>
            <a:ext cx="3418484" cy="41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rgbClr val="FFF6EE"/>
                </a:solidFill>
              </a:defRPr>
            </a:lvl1pPr>
          </a:lstStyle>
          <a:p>
            <a:pPr/>
            <a:r>
              <a:t>En yüksek tükenmişlik</a:t>
            </a:r>
          </a:p>
        </p:txBody>
      </p:sp>
      <p:sp>
        <p:nvSpPr>
          <p:cNvPr id="106" name="Text 5"/>
          <p:cNvSpPr txBox="1"/>
          <p:nvPr/>
        </p:nvSpPr>
        <p:spPr>
          <a:xfrm>
            <a:off x="812800" y="4189660"/>
            <a:ext cx="3418484" cy="50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FFF6EE"/>
                </a:solidFill>
              </a:defRPr>
            </a:lvl1pPr>
          </a:lstStyle>
          <a:p>
            <a:pPr/>
            <a:r>
              <a:t>Y kuşağında; Z kuşağı hemen arkasında (Türkiye, ~1.000 çalışan)</a:t>
            </a:r>
          </a:p>
        </p:txBody>
      </p:sp>
      <p:sp>
        <p:nvSpPr>
          <p:cNvPr id="107" name="Shape 6"/>
          <p:cNvSpPr/>
          <p:nvPr/>
        </p:nvSpPr>
        <p:spPr>
          <a:xfrm>
            <a:off x="4436517" y="3585814"/>
            <a:ext cx="3318967" cy="1"/>
          </a:xfrm>
          <a:prstGeom prst="line">
            <a:avLst/>
          </a:prstGeom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7"/>
          <p:cNvSpPr txBox="1"/>
          <p:nvPr/>
        </p:nvSpPr>
        <p:spPr>
          <a:xfrm>
            <a:off x="4436517" y="3747739"/>
            <a:ext cx="3418535" cy="41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rgbClr val="FFF6EE"/>
                </a:solidFill>
              </a:defRPr>
            </a:lvl1pPr>
          </a:lstStyle>
          <a:p>
            <a:pPr/>
            <a:r>
              <a:t>%40 · küresel</a:t>
            </a:r>
          </a:p>
        </p:txBody>
      </p:sp>
      <p:sp>
        <p:nvSpPr>
          <p:cNvPr id="109" name="Text 8"/>
          <p:cNvSpPr txBox="1"/>
          <p:nvPr/>
        </p:nvSpPr>
        <p:spPr>
          <a:xfrm>
            <a:off x="4436517" y="4189660"/>
            <a:ext cx="3418535" cy="50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FFF6EE"/>
                </a:solidFill>
              </a:defRPr>
            </a:lvl1pPr>
          </a:lstStyle>
          <a:p>
            <a:pPr/>
            <a:r>
              <a:t>Z kuşağı çoğu zaman stresli/kaygılı (Deloitte 2025)</a:t>
            </a:r>
          </a:p>
        </p:txBody>
      </p:sp>
      <p:sp>
        <p:nvSpPr>
          <p:cNvPr id="110" name="Shape 9"/>
          <p:cNvSpPr/>
          <p:nvPr/>
        </p:nvSpPr>
        <p:spPr>
          <a:xfrm>
            <a:off x="8060283" y="3585814"/>
            <a:ext cx="3318918" cy="1"/>
          </a:xfrm>
          <a:prstGeom prst="line">
            <a:avLst/>
          </a:prstGeom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0"/>
          <p:cNvSpPr txBox="1"/>
          <p:nvPr/>
        </p:nvSpPr>
        <p:spPr>
          <a:xfrm>
            <a:off x="8060283" y="3747739"/>
            <a:ext cx="3418485" cy="41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rgbClr val="FFF6EE"/>
                </a:solidFill>
              </a:defRPr>
            </a:lvl1pPr>
          </a:lstStyle>
          <a:p>
            <a:pPr/>
            <a:r>
              <a:t>Uzun saatler</a:t>
            </a:r>
          </a:p>
        </p:txBody>
      </p:sp>
      <p:sp>
        <p:nvSpPr>
          <p:cNvPr id="112" name="Text 11"/>
          <p:cNvSpPr txBox="1"/>
          <p:nvPr/>
        </p:nvSpPr>
        <p:spPr>
          <a:xfrm>
            <a:off x="8060283" y="4189660"/>
            <a:ext cx="3418485" cy="50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FFF6EE"/>
                </a:solidFill>
              </a:defRPr>
            </a:lvl1pPr>
          </a:lstStyle>
          <a:p>
            <a:pPr/>
            <a:r>
              <a:t>ve takdir görmemek: küresel olarak işteki en büyük stres kaynakları</a:t>
            </a:r>
          </a:p>
        </p:txBody>
      </p:sp>
      <p:sp>
        <p:nvSpPr>
          <p:cNvPr id="113" name="Text 12"/>
          <p:cNvSpPr txBox="1"/>
          <p:nvPr/>
        </p:nvSpPr>
        <p:spPr>
          <a:xfrm>
            <a:off x="812799" y="6238280"/>
            <a:ext cx="10883394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/>
            <a:r>
              <a:t>Kaynaklar: Deloitte 2021 Y ve Z Kuşağı Araştırması (Türkiye); Wellbees–Kariyer.net–Sabancı Üni. Esenlik Araştırması (2025); Deloitte 2025 küresel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1"/>
                </a:solidFill>
              </a:defRPr>
            </a:lvl1pPr>
          </a:lstStyle>
          <a:p>
            <a:pPr/>
            <a:r>
              <a:t>GÖRÜNMEYEN ETKEN</a:t>
            </a:r>
          </a:p>
        </p:txBody>
      </p:sp>
      <p:sp>
        <p:nvSpPr>
          <p:cNvPr id="118" name="Text 1"/>
          <p:cNvSpPr txBox="1"/>
          <p:nvPr>
            <p:ph type="title"/>
          </p:nvPr>
        </p:nvSpPr>
        <p:spPr>
          <a:xfrm>
            <a:off x="812799" y="1417290"/>
            <a:ext cx="10883394" cy="584201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/>
            </a:lvl1pPr>
          </a:lstStyle>
          <a:p>
            <a:pPr/>
            <a:r>
              <a:t>Tükenmişliğin altında para kaygısı var</a:t>
            </a:r>
          </a:p>
        </p:txBody>
      </p:sp>
      <p:sp>
        <p:nvSpPr>
          <p:cNvPr id="119" name="Shape 2"/>
          <p:cNvSpPr/>
          <p:nvPr/>
        </p:nvSpPr>
        <p:spPr>
          <a:xfrm>
            <a:off x="815975" y="2334865"/>
            <a:ext cx="3380284" cy="2241452"/>
          </a:xfrm>
          <a:prstGeom prst="roundRect">
            <a:avLst>
              <a:gd name="adj" fmla="val 4391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3"/>
          <p:cNvSpPr txBox="1"/>
          <p:nvPr/>
        </p:nvSpPr>
        <p:spPr>
          <a:xfrm>
            <a:off x="1098549" y="2617440"/>
            <a:ext cx="2899590" cy="87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7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pPr/>
            <a:r>
              <a:t>~%60</a:t>
            </a:r>
          </a:p>
        </p:txBody>
      </p:sp>
      <p:sp>
        <p:nvSpPr>
          <p:cNvPr id="121" name="Text 4"/>
          <p:cNvSpPr txBox="1"/>
          <p:nvPr/>
        </p:nvSpPr>
        <p:spPr>
          <a:xfrm>
            <a:off x="1098549" y="3547069"/>
            <a:ext cx="2899590" cy="772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Türkiye’de katılımcıların finansal gelecekleri için sık sık endişelendiği oran (Deloitte 2021)</a:t>
            </a:r>
          </a:p>
        </p:txBody>
      </p:sp>
      <p:sp>
        <p:nvSpPr>
          <p:cNvPr id="122" name="Shape 5"/>
          <p:cNvSpPr/>
          <p:nvPr/>
        </p:nvSpPr>
        <p:spPr>
          <a:xfrm>
            <a:off x="4405808" y="2334865"/>
            <a:ext cx="3380334" cy="2241452"/>
          </a:xfrm>
          <a:prstGeom prst="roundRect">
            <a:avLst>
              <a:gd name="adj" fmla="val 4391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6"/>
          <p:cNvSpPr txBox="1"/>
          <p:nvPr/>
        </p:nvSpPr>
        <p:spPr>
          <a:xfrm>
            <a:off x="4688383" y="2617440"/>
            <a:ext cx="2899641" cy="87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7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pPr/>
            <a:r>
              <a:t>%76</a:t>
            </a:r>
          </a:p>
        </p:txBody>
      </p:sp>
      <p:sp>
        <p:nvSpPr>
          <p:cNvPr id="124" name="Text 7"/>
          <p:cNvSpPr txBox="1"/>
          <p:nvPr/>
        </p:nvSpPr>
        <p:spPr>
          <a:xfrm>
            <a:off x="4688383" y="3547069"/>
            <a:ext cx="2899641" cy="52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Türkiye’deki Z kuşağının gelirin adil dağılmadığını düşündüğü oran</a:t>
            </a:r>
          </a:p>
        </p:txBody>
      </p:sp>
      <p:sp>
        <p:nvSpPr>
          <p:cNvPr id="125" name="Shape 8"/>
          <p:cNvSpPr/>
          <p:nvPr/>
        </p:nvSpPr>
        <p:spPr>
          <a:xfrm>
            <a:off x="7995691" y="2334865"/>
            <a:ext cx="3380334" cy="2241452"/>
          </a:xfrm>
          <a:prstGeom prst="roundRect">
            <a:avLst>
              <a:gd name="adj" fmla="val 4391"/>
            </a:avLst>
          </a:prstGeom>
          <a:solidFill>
            <a:srgbClr val="FFFDF8"/>
          </a:solidFill>
          <a:ln w="635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9"/>
          <p:cNvSpPr txBox="1"/>
          <p:nvPr/>
        </p:nvSpPr>
        <p:spPr>
          <a:xfrm>
            <a:off x="8278266" y="2617440"/>
            <a:ext cx="2899640" cy="87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7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pPr/>
            <a:r>
              <a:t>%48</a:t>
            </a:r>
          </a:p>
        </p:txBody>
      </p:sp>
      <p:sp>
        <p:nvSpPr>
          <p:cNvPr id="127" name="Text 10"/>
          <p:cNvSpPr txBox="1"/>
          <p:nvPr/>
        </p:nvSpPr>
        <p:spPr>
          <a:xfrm>
            <a:off x="8278266" y="3547069"/>
            <a:ext cx="2899640" cy="772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5"/>
                </a:solidFill>
              </a:defRPr>
            </a:lvl1pPr>
          </a:lstStyle>
          <a:p>
            <a:pPr/>
            <a:r>
              <a:t>Küresel olarak Z kuşağının kendini finansal açıdan güvende hissetmediği oran (2025)</a:t>
            </a:r>
          </a:p>
        </p:txBody>
      </p:sp>
      <p:sp>
        <p:nvSpPr>
          <p:cNvPr id="128" name="Text 11"/>
          <p:cNvSpPr txBox="1"/>
          <p:nvPr/>
        </p:nvSpPr>
        <p:spPr>
          <a:xfrm>
            <a:off x="812799" y="6238280"/>
            <a:ext cx="10883394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6A6F7C"/>
                </a:solidFill>
              </a:defRPr>
            </a:lvl1pPr>
          </a:lstStyle>
          <a:p>
            <a:pPr/>
            <a:r>
              <a:t>Kaynaklar: Deloitte 2021 Y ve Z Kuşağı Araştırması, Türkiye (Diken); Deloitte 2025 Gen Z &amp; Millennial Survey, küresel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 txBox="1"/>
          <p:nvPr/>
        </p:nvSpPr>
        <p:spPr>
          <a:xfrm>
            <a:off x="812799" y="812800"/>
            <a:ext cx="10883394" cy="27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b="1" spc="200" sz="1400">
                <a:solidFill>
                  <a:schemeClr val="accent2"/>
                </a:solidFill>
              </a:defRPr>
            </a:lvl1pPr>
          </a:lstStyle>
          <a:p>
            <a:pPr/>
            <a:r>
              <a:t>SINAMA</a:t>
            </a:r>
          </a:p>
        </p:txBody>
      </p:sp>
      <p:sp>
        <p:nvSpPr>
          <p:cNvPr id="133" name="Text 1"/>
          <p:cNvSpPr txBox="1"/>
          <p:nvPr>
            <p:ph type="title"/>
          </p:nvPr>
        </p:nvSpPr>
        <p:spPr>
          <a:xfrm>
            <a:off x="812799" y="1366490"/>
            <a:ext cx="10883394" cy="1143001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F6F3EC"/>
                </a:solidFill>
              </a:defRPr>
            </a:lvl1pPr>
          </a:lstStyle>
          <a:p>
            <a:pPr/>
            <a:r>
              <a:t>Tembel olsalardı bir örüntü görürdük. Başkasını görüyoruz.</a:t>
            </a:r>
          </a:p>
        </p:txBody>
      </p:sp>
      <p:graphicFrame>
        <p:nvGraphicFramePr>
          <p:cNvPr id="134" name="Table 0"/>
          <p:cNvGraphicFramePr/>
          <p:nvPr/>
        </p:nvGraphicFramePr>
        <p:xfrm>
          <a:off x="825500" y="2801590"/>
          <a:ext cx="10553700" cy="24765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962"/>
                <a:gridCol w="3588258"/>
                <a:gridCol w="4221480"/>
              </a:tblGrid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6F3EC"/>
                          </a:solidFill>
                        </a:rPr>
                        <a:t>Gösterge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595D69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595D69"/>
                      </a:solidFill>
                    </a:lnB>
                    <a:solidFill>
                      <a:srgbClr val="2C31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6F3EC"/>
                          </a:solidFill>
                        </a:rPr>
                        <a:t>“Tembel” beklentisi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595D69"/>
                      </a:solidFill>
                    </a:lnL>
                    <a:lnR w="12700">
                      <a:solidFill>
                        <a:srgbClr val="595D69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595D69"/>
                      </a:solidFill>
                    </a:lnB>
                    <a:solidFill>
                      <a:srgbClr val="2C31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6F3EC"/>
                          </a:solidFill>
                        </a:rPr>
                        <a:t>Türkiye verisi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595D69"/>
                      </a:solidFill>
                    </a:lnL>
                    <a:lnR w="12700">
                      <a:solidFill>
                        <a:srgbClr val="595D69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595D69"/>
                      </a:solidFill>
                    </a:lnB>
                    <a:solidFill>
                      <a:srgbClr val="2C314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Katılım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595D69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9DA2B0"/>
                          </a:solidFill>
                        </a:rPr>
                        <a:t>Düşen katılım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595D69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2025’te artan katılım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595D69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İş bulma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9DA2B0"/>
                          </a:solidFill>
                        </a:rPr>
                        <a:t>İş var, istek yok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Yalnızca %23 iş bulmayı kolay görüyor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Bağlılık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9DA2B0"/>
                          </a:solidFill>
                        </a:rPr>
                        <a:t>Gençlerde düşük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Tüm çalışanlarda %8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Stres kaynağı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9DA2B0"/>
                          </a:solidFill>
                        </a:rPr>
                        <a:t>Az iş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Uzun saatler, finansal kaygı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Atıl kapasite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9DA2B0"/>
                          </a:solidFill>
                        </a:rPr>
                        <a:t>Çalışmak istemeyen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6F3EC"/>
                          </a:solidFill>
                        </a:rPr>
                        <a:t>%31 çalışmak isteyip yeterince çalışamayan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4D4F57"/>
                      </a:solidFill>
                    </a:lnL>
                    <a:lnR w="12700">
                      <a:solidFill>
                        <a:srgbClr val="4D4F57"/>
                      </a:solidFill>
                    </a:lnR>
                    <a:lnT w="12700">
                      <a:solidFill>
                        <a:srgbClr val="4D4F57"/>
                      </a:solidFill>
                    </a:lnT>
                    <a:lnB w="12700">
                      <a:solidFill>
                        <a:srgbClr val="4D4F5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>
            <p:ph type="title"/>
          </p:nvPr>
        </p:nvSpPr>
        <p:spPr>
          <a:xfrm>
            <a:off x="812800" y="812800"/>
            <a:ext cx="10464800" cy="1305521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5000"/>
              </a:lnSpc>
              <a:defRPr b="1" sz="4800"/>
            </a:pPr>
            <a:r>
              <a:t>Tembel değil. </a:t>
            </a:r>
            <a:r>
              <a:rPr>
                <a:solidFill>
                  <a:schemeClr val="accent1"/>
                </a:solidFill>
              </a:rPr>
              <a:t>Sıkışmış, stresli ve güvencesiz.</a:t>
            </a:r>
          </a:p>
        </p:txBody>
      </p:sp>
      <p:sp>
        <p:nvSpPr>
          <p:cNvPr id="139" name="Text 1"/>
          <p:cNvSpPr txBox="1"/>
          <p:nvPr/>
        </p:nvSpPr>
        <p:spPr>
          <a:xfrm>
            <a:off x="812800" y="2397719"/>
            <a:ext cx="9810750" cy="61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sz="1600">
                <a:solidFill>
                  <a:schemeClr val="accent5"/>
                </a:solidFill>
              </a:defRPr>
            </a:lvl1pPr>
          </a:lstStyle>
          <a:p>
            <a:pPr/>
            <a:r>
              <a:t>Açık soru — gençlerin dörtte birinin sistem dışında olması — zayıf bir iş ahlakından çok dar bir giriş kapısına işaret ediyor.</a:t>
            </a:r>
          </a:p>
        </p:txBody>
      </p:sp>
      <p:sp>
        <p:nvSpPr>
          <p:cNvPr id="140" name="Shape 2"/>
          <p:cNvSpPr/>
          <p:nvPr/>
        </p:nvSpPr>
        <p:spPr>
          <a:xfrm>
            <a:off x="812800" y="3298130"/>
            <a:ext cx="10566400" cy="1"/>
          </a:xfrm>
          <a:prstGeom prst="line">
            <a:avLst/>
          </a:prstGeom>
          <a:ln w="12700">
            <a:solidFill>
              <a:srgbClr val="E2DCC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3"/>
          <p:cNvSpPr txBox="1"/>
          <p:nvPr/>
        </p:nvSpPr>
        <p:spPr>
          <a:xfrm>
            <a:off x="812799" y="3507680"/>
            <a:ext cx="10883394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b="1" spc="100" sz="1300">
                <a:solidFill>
                  <a:schemeClr val="accent1"/>
                </a:solidFill>
              </a:defRPr>
            </a:lvl1pPr>
          </a:lstStyle>
          <a:p>
            <a:pPr/>
            <a:r>
              <a:t>KAYNAKLAR</a:t>
            </a:r>
          </a:p>
        </p:txBody>
      </p:sp>
      <p:sp>
        <p:nvSpPr>
          <p:cNvPr id="142" name="Text 4"/>
          <p:cNvSpPr txBox="1"/>
          <p:nvPr/>
        </p:nvSpPr>
        <p:spPr>
          <a:xfrm>
            <a:off x="812799" y="3802310"/>
            <a:ext cx="1088339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200">
                <a:solidFill>
                  <a:schemeClr val="accent5"/>
                </a:solidFill>
              </a:defRPr>
            </a:pPr>
            <a:r>
              <a:t>TÜİK İşgücü İstatistikleri (Ağustos 2026) · TÜİK İstatistiklerle Gençlik 2025 · Gallup State of the Global Workplace 2026, Türkiye · Deloitte Y ve Z Kuşağı Araştırması 2021 (Türkiye) ve 2025 (küresel) · Wellbees–Kariyer.net–Sabancı Üniversitesi Esenlik Araştırması (2025) · Protzko ve Schooler, </a:t>
            </a:r>
            <a:r>
              <a:rPr i="1"/>
              <a:t>Science Advances</a:t>
            </a:r>
            <a:r>
              <a:t> (2019) · Hill ve Redding, Harvard Gazette (2021)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embel mi, Tükenmiş mi? (Türkiye)">
  <a:themeElements>
    <a:clrScheme name="Tembel mi, Tükenmiş mi? (Türkiye)">
      <a:dk1>
        <a:srgbClr val="1C1F2A"/>
      </a:dk1>
      <a:lt1>
        <a:srgbClr val="F6F3EC"/>
      </a:lt1>
      <a:dk2>
        <a:srgbClr val="A7A7A7"/>
      </a:dk2>
      <a:lt2>
        <a:srgbClr val="535353"/>
      </a:lt2>
      <a:accent1>
        <a:srgbClr val="C4521C"/>
      </a:accent1>
      <a:accent2>
        <a:srgbClr val="F08A4B"/>
      </a:accent2>
      <a:accent3>
        <a:srgbClr val="2F5F95"/>
      </a:accent3>
      <a:accent4>
        <a:srgbClr val="FFE2CC"/>
      </a:accent4>
      <a:accent5>
        <a:srgbClr val="4A4F5E"/>
      </a:accent5>
      <a:accent6>
        <a:srgbClr val="C9CCD6"/>
      </a:accent6>
      <a:hlink>
        <a:srgbClr val="0000FF"/>
      </a:hlink>
      <a:folHlink>
        <a:srgbClr val="FF00FF"/>
      </a:folHlink>
    </a:clrScheme>
    <a:fontScheme name="Tembel mi, Tükenmiş mi? (Türkiye)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bel mi, Tükenmiş mi? (Türkiye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3EC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C1F2A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C1F2A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mbel mi, Tükenmiş mi? (Türkiye)">
  <a:themeElements>
    <a:clrScheme name="Tembel mi, Tükenmiş mi? (Türkiye)">
      <a:dk1>
        <a:srgbClr val="1C1F2A"/>
      </a:dk1>
      <a:lt1>
        <a:srgbClr val="2A240E"/>
      </a:lt1>
      <a:dk2>
        <a:srgbClr val="A7A7A7"/>
      </a:dk2>
      <a:lt2>
        <a:srgbClr val="535353"/>
      </a:lt2>
      <a:accent1>
        <a:srgbClr val="C4521C"/>
      </a:accent1>
      <a:accent2>
        <a:srgbClr val="F08A4B"/>
      </a:accent2>
      <a:accent3>
        <a:srgbClr val="2F5F95"/>
      </a:accent3>
      <a:accent4>
        <a:srgbClr val="FFE2CC"/>
      </a:accent4>
      <a:accent5>
        <a:srgbClr val="4A4F5E"/>
      </a:accent5>
      <a:accent6>
        <a:srgbClr val="C9CCD6"/>
      </a:accent6>
      <a:hlink>
        <a:srgbClr val="0000FF"/>
      </a:hlink>
      <a:folHlink>
        <a:srgbClr val="FF00FF"/>
      </a:folHlink>
    </a:clrScheme>
    <a:fontScheme name="Tembel mi, Tükenmiş mi? (Türkiye)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bel mi, Tükenmiş mi? (Türkiye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3EC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C1F2A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C1F2A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